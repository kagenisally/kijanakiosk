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201168"/>
            <a:ext cx="1581912" cy="6656832"/>
          </a:xfrm>
          <a:prstGeom prst="rect">
            <a:avLst/>
          </a:prstGeom>
          <a:solidFill>
            <a:srgbClr val="E0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9611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8704C"/>
                </a:solidFill>
              </a:defRPr>
            </a:pPr>
            <a:r>
              <a:t>KijaniKiosk</a:t>
            </a:r>
          </a:p>
          <a:p>
            <a:pPr>
              <a:spcBef>
                <a:spcPts val="1000"/>
              </a:spcBef>
              <a:defRPr sz="2700" b="1">
                <a:solidFill>
                  <a:srgbClr val="182721"/>
                </a:solidFill>
              </a:defRPr>
            </a:pPr>
            <a:r>
              <a:t>End-to-End Delivery Capstone</a:t>
            </a:r>
          </a:p>
          <a:p>
            <a:pPr>
              <a:spcBef>
                <a:spcPts val="2000"/>
              </a:spcBef>
              <a:defRPr sz="1900">
                <a:solidFill>
                  <a:srgbClr val="5F6964"/>
                </a:solidFill>
              </a:defRPr>
            </a:pPr>
            <a:r>
              <a:t>Sally Gitonga</a:t>
            </a:r>
          </a:p>
          <a:p>
            <a:pPr>
              <a:spcBef>
                <a:spcPts val="800"/>
              </a:spcBef>
              <a:defRPr sz="1700" b="1">
                <a:solidFill>
                  <a:srgbClr val="F4B140"/>
                </a:solidFill>
              </a:defRPr>
            </a:pPr>
            <a:r>
              <a:t>Infrastructure-First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874519"/>
            <a:ext cx="685800" cy="256032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2212848"/>
            <a:ext cx="685800" cy="256032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72600" y="2606040"/>
            <a:ext cx="1143000" cy="13716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21"/>
                </a:solidFill>
              </a:defRPr>
            </a:pPr>
            <a:r>
              <a:t>Problem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123444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72184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Problem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Deliver a repeatable, production-oriented KijaniKiosk platform with automated delivery, infrastructure, runtime controls and observability.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123444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72184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Track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Track A — Infrastructure-First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325880"/>
            <a:ext cx="73152" cy="1234440"/>
          </a:xfrm>
          <a:prstGeom prst="rect">
            <a:avLst/>
          </a:prstGeom>
          <a:solidFill>
            <a:srgbClr val="38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472184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In scope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Infrastructure as Code • configuration management • CI/CD • Kubernetes runtime • monitoring • serverless payment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8892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788920"/>
            <a:ext cx="73152" cy="1417320"/>
          </a:xfrm>
          <a:prstGeom prst="rect">
            <a:avLst/>
          </a:prstGeom>
          <a:solidFill>
            <a:srgbClr val="BE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935224"/>
            <a:ext cx="49377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Out of scope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Major application feature development and full enterprise security hardening.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8892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88920"/>
            <a:ext cx="73152" cy="141732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935224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Success criteria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Reproducible infrastructure • reliable deployments • smoke-test validation • observable workloads • documented decisions and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F6964"/>
                </a:solidFill>
              </a:defRPr>
            </a:pPr>
            <a:r>
              <a:t>KijaniKiosk • End-to-End Delivery Capstone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653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21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64"/>
                </a:solidFill>
              </a:defRPr>
            </a:pPr>
            <a:r>
              <a:t>Infrastructure-first delivery from source control to Kubernetes workloads and supporting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234440"/>
            <a:ext cx="6309360" cy="621792"/>
          </a:xfrm>
          <a:prstGeom prst="roundRect">
            <a:avLst/>
          </a:prstGeom>
          <a:solidFill>
            <a:srgbClr val="F1F8F4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721"/>
                </a:solidFill>
              </a:defRPr>
            </a:pPr>
            <a:r>
              <a:t>Developer / GitHub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97880" y="1874519"/>
            <a:ext cx="365760" cy="320040"/>
          </a:xfrm>
          <a:prstGeom prst="down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2103120"/>
            <a:ext cx="6309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F4B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721"/>
                </a:solidFill>
              </a:defRPr>
            </a:pPr>
            <a:r>
              <a:t>Jenkins CI/CD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97880" y="2743200"/>
            <a:ext cx="365760" cy="320040"/>
          </a:xfrm>
          <a:prstGeom prst="down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2971800"/>
            <a:ext cx="6309360" cy="621792"/>
          </a:xfrm>
          <a:prstGeom prst="roundRect">
            <a:avLst/>
          </a:prstGeom>
          <a:solidFill>
            <a:srgbClr val="F1F8F4"/>
          </a:solidFill>
          <a:ln>
            <a:solidFill>
              <a:srgbClr val="38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721"/>
                </a:solidFill>
              </a:defRPr>
            </a:pPr>
            <a:r>
              <a:t>Terraform + Ansible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97880" y="3611880"/>
            <a:ext cx="365760" cy="320040"/>
          </a:xfrm>
          <a:prstGeom prst="down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3840480"/>
            <a:ext cx="6309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721"/>
                </a:solidFill>
              </a:defRPr>
            </a:pPr>
            <a:r>
              <a:t>Kubernetes Cluster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97880" y="4480560"/>
            <a:ext cx="365760" cy="320040"/>
          </a:xfrm>
          <a:prstGeom prst="down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4709160"/>
            <a:ext cx="6309360" cy="621792"/>
          </a:xfrm>
          <a:prstGeom prst="roundRect">
            <a:avLst/>
          </a:prstGeom>
          <a:solidFill>
            <a:srgbClr val="F1F8F4"/>
          </a:solidFill>
          <a:ln>
            <a:solidFill>
              <a:srgbClr val="F4B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721"/>
                </a:solidFill>
              </a:defRPr>
            </a:pPr>
            <a:r>
              <a:t>Application + kk-payments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97880" y="5349240"/>
            <a:ext cx="365760" cy="320040"/>
          </a:xfrm>
          <a:prstGeom prst="down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5577840"/>
            <a:ext cx="63093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8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721"/>
                </a:solidFill>
              </a:defRPr>
            </a:pPr>
            <a:r>
              <a:t>Monitoring + S3 / Receipt Chain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F6964"/>
                </a:solidFill>
              </a:defRPr>
            </a:pPr>
            <a:r>
              <a:t>KijaniKiosk • End-to-End Delivery Capstone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653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21"/>
                </a:solidFill>
              </a:defRPr>
            </a:pPr>
            <a:r>
              <a:t>Delivery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600200" cy="960120"/>
          </a:xfrm>
          <a:prstGeom prst="roundRect">
            <a:avLst/>
          </a:prstGeom>
          <a:solidFill>
            <a:srgbClr val="F1F8F4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721"/>
                </a:solidFill>
              </a:defRPr>
            </a:pPr>
            <a:r>
              <a:t>GitHub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94560" y="2441448"/>
            <a:ext cx="594360" cy="36576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68880" y="214884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721"/>
                </a:solidFill>
              </a:defRPr>
            </a:pPr>
            <a:r>
              <a:t>Jenkins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2441448"/>
            <a:ext cx="594360" cy="36576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1600200" cy="960120"/>
          </a:xfrm>
          <a:prstGeom prst="roundRect">
            <a:avLst/>
          </a:prstGeom>
          <a:solidFill>
            <a:srgbClr val="F1F8F4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721"/>
                </a:solidFill>
              </a:defRPr>
            </a:pPr>
            <a:r>
              <a:t>Staging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5040" y="2441448"/>
            <a:ext cx="594360" cy="36576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14884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721"/>
                </a:solidFill>
              </a:defRPr>
            </a:pPr>
            <a:r>
              <a:t>Smoke Test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55280" y="2441448"/>
            <a:ext cx="594360" cy="36576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2148840"/>
            <a:ext cx="1600200" cy="960120"/>
          </a:xfrm>
          <a:prstGeom prst="roundRect">
            <a:avLst/>
          </a:prstGeom>
          <a:solidFill>
            <a:srgbClr val="F1F8F4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721"/>
                </a:solidFill>
              </a:defRPr>
            </a:pPr>
            <a:r>
              <a:t>Approval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75520" y="2441448"/>
            <a:ext cx="594360" cy="36576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49840" y="214884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4B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721"/>
                </a:solidFill>
              </a:defRPr>
            </a:pPr>
            <a:r>
              <a:t>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8862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886200"/>
            <a:ext cx="73152" cy="109728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032504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Automate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Build, test and package consistently.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8862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3886200"/>
            <a:ext cx="73152" cy="1097280"/>
          </a:xfrm>
          <a:prstGeom prst="rect">
            <a:avLst/>
          </a:prstGeom>
          <a:solidFill>
            <a:srgbClr val="38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4032504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Validate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Smoke tests catch deployment/runtime failures.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862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886200"/>
            <a:ext cx="73152" cy="109728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4032504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Control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Approval gates the production promotion.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F6964"/>
                </a:solidFill>
              </a:defRPr>
            </a:pPr>
            <a:r>
              <a:t>KijaniKiosk • End-to-End Delivery Capstone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653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21"/>
                </a:solidFill>
              </a:defRPr>
            </a:pPr>
            <a:r>
              <a:t>Infrastructure &amp; Runtime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141732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72184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Terraform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Provision infrastructure consistently and repeatably.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73152" cy="141732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472184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Ansible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Configure hosts and supporting runtime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325880"/>
            <a:ext cx="73152" cy="1417320"/>
          </a:xfrm>
          <a:prstGeom prst="rect">
            <a:avLst/>
          </a:prstGeom>
          <a:solidFill>
            <a:srgbClr val="38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1472184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Kubernetes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Run application workloads with declarative manifests.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154680"/>
            <a:ext cx="73152" cy="141732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300984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ConfigMaps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Separate environment configuration from application images.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154680"/>
            <a:ext cx="73152" cy="141732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3300984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Probes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Readiness/liveness checks protect traffic and recovery.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3154680"/>
            <a:ext cx="73152" cy="1417320"/>
          </a:xfrm>
          <a:prstGeom prst="rect">
            <a:avLst/>
          </a:prstGeom>
          <a:solidFill>
            <a:srgbClr val="38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3300984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Resources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CPU/memory requests and limits improve runtime control.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F6964"/>
                </a:solidFill>
              </a:defRPr>
            </a:pPr>
            <a:r>
              <a:t>KijaniKiosk • End-to-End Delivery 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653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21"/>
                </a:solidFill>
              </a:defRPr>
            </a:pPr>
            <a:r>
              <a:t>Monitoring &amp; Serverless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103120" cy="960120"/>
          </a:xfrm>
          <a:prstGeom prst="roundRect">
            <a:avLst/>
          </a:prstGeom>
          <a:solidFill>
            <a:srgbClr val="F1F8F4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721"/>
                </a:solidFill>
              </a:defRPr>
            </a:pPr>
            <a:r>
              <a:t>kk-payments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08960" y="2404872"/>
            <a:ext cx="594360" cy="36576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03320" y="2103120"/>
            <a:ext cx="2103120" cy="960120"/>
          </a:xfrm>
          <a:prstGeom prst="roundRect">
            <a:avLst/>
          </a:prstGeom>
          <a:solidFill>
            <a:srgbClr val="F1F8F4"/>
          </a:solidFill>
          <a:ln>
            <a:solidFill>
              <a:srgbClr val="38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721"/>
                </a:solidFill>
              </a:defRPr>
            </a:pPr>
            <a:r>
              <a:t>Monitoring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79" y="2404872"/>
            <a:ext cx="594360" cy="36576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2103120"/>
            <a:ext cx="2103120" cy="960120"/>
          </a:xfrm>
          <a:prstGeom prst="roundRect">
            <a:avLst/>
          </a:prstGeom>
          <a:solidFill>
            <a:srgbClr val="F1F8F4"/>
          </a:solidFill>
          <a:ln>
            <a:solidFill>
              <a:srgbClr val="F4B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721"/>
                </a:solidFill>
              </a:defRPr>
            </a:pPr>
            <a:r>
              <a:t>S3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86800" y="2404872"/>
            <a:ext cx="594360" cy="36576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81159" y="2103120"/>
            <a:ext cx="2103120" cy="960120"/>
          </a:xfrm>
          <a:prstGeom prst="roundRect">
            <a:avLst/>
          </a:prstGeom>
          <a:solidFill>
            <a:srgbClr val="F1F8F4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721"/>
                </a:solidFill>
              </a:defRPr>
            </a:pPr>
            <a:r>
              <a:t>Receipt 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8620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886200"/>
            <a:ext cx="73152" cy="1143000"/>
          </a:xfrm>
          <a:prstGeom prst="rect">
            <a:avLst/>
          </a:prstGeom>
          <a:solidFill>
            <a:srgbClr val="38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032504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Observe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Capture service health and operational signals.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88620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3886200"/>
            <a:ext cx="73152" cy="114300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4032504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Persist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Store receipt artifacts in S3.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88620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3886200"/>
            <a:ext cx="73152" cy="114300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4032504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Trace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Maintain a clear payment-to-receipt chain.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F6964"/>
                </a:solidFill>
              </a:defRPr>
            </a:pPr>
            <a:r>
              <a:t>KijaniKiosk • End-to-End Delivery Capstone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21"/>
                </a:solidFill>
              </a:defRPr>
            </a:pPr>
            <a:r>
              <a:t>Key Technical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64"/>
                </a:solidFill>
              </a:defRPr>
            </a:pPr>
            <a:r>
              <a:t>Trade-off: simplicity and reuse vs environment-specific customization.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937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Option A — Single reusable Deployment manifest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Pros: less duplication, easier maintenance, consistent behavior.</a:t>
            </a:r>
            <a:br/>
            <a:r>
              <a:t>Cons: environment differences require controlled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17320"/>
            <a:ext cx="4937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73152" cy="192024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1563624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Option B — Separate staging/production manifests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Pros: explicit environment-specific settings.</a:t>
            </a:r>
            <a:br/>
            <a:r>
              <a:t>Cons: duplication, drift risk and more files to maintain.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977639"/>
            <a:ext cx="6675120" cy="1234440"/>
          </a:xfrm>
          <a:prstGeom prst="roundRect">
            <a:avLst/>
          </a:prstGeom>
          <a:solidFill>
            <a:srgbClr val="F1F8F4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8704C"/>
                </a:solidFill>
              </a:defRPr>
            </a:pPr>
            <a:r>
              <a:t>Chosen: Single reusable Deployment manifest</a:t>
            </a:r>
          </a:p>
          <a:p>
            <a:pPr algn="ctr">
              <a:defRPr sz="1200">
                <a:solidFill>
                  <a:srgbClr val="182721"/>
                </a:solidFill>
              </a:defRPr>
            </a:pPr>
            <a:r>
              <a:t>Environment-specific values are externalized through configuration rather than duplicated manifests.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F6964"/>
                </a:solidFill>
              </a:defRPr>
            </a:pPr>
            <a:r>
              <a:t>KijaniKiosk • End-to-End Delivery Capstone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21"/>
                </a:solidFill>
              </a:defRPr>
            </a:pPr>
            <a:r>
              <a:t>AI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64"/>
                </a:solidFill>
              </a:defRPr>
            </a:pPr>
            <a:r>
              <a:t>AI was treated as an assistant, not an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8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21"/>
                </a:solidFill>
              </a:defRPr>
            </a:pPr>
            <a:r>
              <a:t>AI task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97480" y="2377440"/>
            <a:ext cx="502920" cy="32004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210312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4B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21"/>
                </a:solidFill>
              </a:defRPr>
            </a:pPr>
            <a:r>
              <a:t>AI output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83480" y="2377440"/>
            <a:ext cx="502920" cy="32004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210312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21"/>
                </a:solidFill>
              </a:defRPr>
            </a:pPr>
            <a:r>
              <a:t>Problem found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69480" y="2377440"/>
            <a:ext cx="502920" cy="32004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79" y="210312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21"/>
                </a:solidFill>
              </a:defRPr>
            </a:pPr>
            <a:r>
              <a:t>Human correction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55480" y="2377440"/>
            <a:ext cx="502920" cy="320040"/>
          </a:xfrm>
          <a:prstGeom prst="rightArrow">
            <a:avLst/>
          </a:prstGeom>
          <a:solidFill>
            <a:srgbClr val="5F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0" y="210312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87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21"/>
                </a:solidFill>
              </a:defRPr>
            </a:pPr>
            <a:r>
              <a:t>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886200"/>
            <a:ext cx="8503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3886200"/>
            <a:ext cx="73152" cy="114300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29968" y="4032504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Governance principle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Record what AI produced, identify errors, apply human correction, then verify the final result against the project requirements.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F6964"/>
                </a:solidFill>
              </a:defRPr>
            </a:pPr>
            <a:r>
              <a:t>KijaniKiosk • End-to-End Delivery Capstone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653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21"/>
                </a:solidFill>
              </a:defRPr>
            </a:pPr>
            <a:r>
              <a:t>Peer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64"/>
                </a:solidFill>
              </a:defRPr>
            </a:pPr>
            <a:r>
              <a:t>Three concrete issues → concrete improvements.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72184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Issue 1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Documentation / presentation needed clearer structure.  Improvement: standardized README and slide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39"/>
            <a:ext cx="10835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834639"/>
            <a:ext cx="73152" cy="114300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80944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Issue 2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Deployment flow needed stronger validation.  Improvement: explicit smoke-test and approval stages.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343400"/>
            <a:ext cx="10835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343400"/>
            <a:ext cx="73152" cy="1143000"/>
          </a:xfrm>
          <a:prstGeom prst="rect">
            <a:avLst/>
          </a:prstGeom>
          <a:solidFill>
            <a:srgbClr val="38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489704"/>
            <a:ext cx="10469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Issue 3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Production risks needed to be stated more specifically.  Improvement: document each gap with risk and remediation.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F6964"/>
                </a:solidFill>
              </a:defRPr>
            </a:pPr>
            <a:r>
              <a:t>KijaniKiosk • End-to-End Delivery Capstone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653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21"/>
                </a:solidFill>
              </a:defRPr>
            </a:pPr>
            <a:r>
              <a:t>Production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64"/>
                </a:solidFill>
              </a:defRPr>
            </a:pPr>
            <a:r>
              <a:t>Specific gaps, risks and actionable remediation.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417320"/>
          </a:xfrm>
          <a:prstGeom prst="rect">
            <a:avLst/>
          </a:prstGeom>
          <a:solidFill>
            <a:srgbClr val="BE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GAP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Single Kubernetes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344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234440"/>
            <a:ext cx="73152" cy="141732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380744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RISK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Cluster failure affects all environments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234440"/>
            <a:ext cx="3840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234440"/>
            <a:ext cx="73152" cy="141732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1380744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REMEDIATION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Separate production cluster with managed control plane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73152" cy="1417320"/>
          </a:xfrm>
          <a:prstGeom prst="rect">
            <a:avLst/>
          </a:prstGeom>
          <a:solidFill>
            <a:srgbClr val="BE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980944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GAP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Limited production-grade secrets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8346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2834640"/>
            <a:ext cx="73152" cy="141732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2980944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RISK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Sensitive configuration may be exposed or difficult to rotate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834640"/>
            <a:ext cx="3840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2834640"/>
            <a:ext cx="73152" cy="141732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980944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REMEDIATION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Adopt a managed secrets solution with rotation and least privilege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348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434840"/>
            <a:ext cx="73152" cy="1417320"/>
          </a:xfrm>
          <a:prstGeom prst="rect">
            <a:avLst/>
          </a:prstGeom>
          <a:solidFill>
            <a:srgbClr val="BE4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581144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GAP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Limited disaster recovery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4348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4434840"/>
            <a:ext cx="73152" cy="1417320"/>
          </a:xfrm>
          <a:prstGeom prst="rect">
            <a:avLst/>
          </a:prstGeom>
          <a:solidFill>
            <a:srgbClr val="F4B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4581144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RISK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Recovery from infrastructure/data loss may be slow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4434840"/>
            <a:ext cx="3840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0" y="4434840"/>
            <a:ext cx="73152" cy="1417320"/>
          </a:xfrm>
          <a:prstGeom prst="rect">
            <a:avLst/>
          </a:prstGeom>
          <a:solidFill>
            <a:srgbClr val="187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8" y="4581144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721"/>
                </a:solidFill>
              </a:defRPr>
            </a:pPr>
            <a:r>
              <a:t>REMEDIATION</a:t>
            </a:r>
          </a:p>
          <a:p>
            <a:pPr>
              <a:spcBef>
                <a:spcPts val="800"/>
              </a:spcBef>
              <a:defRPr sz="1100">
                <a:solidFill>
                  <a:srgbClr val="5F6964"/>
                </a:solidFill>
              </a:defRPr>
            </a:pPr>
            <a:r>
              <a:t>Add tested backups, recovery procedures and restore drills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D7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5F6964"/>
                </a:solidFill>
              </a:defRPr>
            </a:pPr>
            <a:r>
              <a:t>KijaniKiosk • End-to-End Delivery Capstone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6539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